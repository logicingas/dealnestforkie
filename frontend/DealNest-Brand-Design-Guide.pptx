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577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humlani\AppData\Local\Temp\claude\c--Users-Phumlani-IdeaProjects-DealNest-frontend\3e01eb5f-c972-43ee-a660-a60e87992941\scratchpad\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85800"/>
            <a:ext cx="2377440" cy="12252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 &amp; Design Guide
</a:t>
            </a:r>
            <a:r>
              <a:rPr lang="en-US" sz="4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DealNest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22960" y="39776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reference for how DealNest looks, writes, and behaves — compiled directly from the live product: its logo asset, its Tailwind tokens, and the copy already shipping in the app.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5074920"/>
            <a:ext cx="960120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822960" y="52852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" y="55138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discount &amp; deal-finder, South Africa (ZAR)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69080" y="52852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069080" y="55138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· Tailwind v4 · Inter · lucide-react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52852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0" y="55138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DealNest is, and how it decided to look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is a mobile-first directory of local store promotions: shoppers browse and save deals near them, store owners run a merchant dashboard, and admins moderate listings. The design works as a pocketable, one-thumb tool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nest is the idea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898648"/>
            <a:ext cx="4151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 is a “nest egg” — a bowl holding two eggs, cut through with the diagonal strokes of a percent sign. The pitch is in the image: a safe place where savings are gathered and kept.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233172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650992" y="2514600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bridges the mark's two colors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50992" y="2898648"/>
            <a:ext cx="4151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logo pairs a blue egg with a green egg. The product's primary color, teal, sits chromatically between them — every gradient runs teal → emerald, echoing rather than replacing the duotone.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13232" y="4709160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over chrome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" y="5093208"/>
            <a:ext cx="4151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no visual furniture — no rules, no decorative dividers. Structure comes from white rounded cards on a soft grey field, each a self-contained unit: a store, a deal, a stat.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452628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50992" y="4709160"/>
            <a:ext cx="4151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system, two moods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50992" y="5093208"/>
            <a:ext cx="4151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screens run bright and rounded (teal, generous corners). The admin console swaps to a dark slate ground with the same teal accent — same system, different register.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Palette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is the one color DealNest spends deliberately. Everything else is quiet neutral, plus a fixed set of category and status colors that carry real meaning.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— TEAL → EMERALD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5720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50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#F0FDFA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 fills, focus bg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42316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500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#14B8A6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start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38912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600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#0D9488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— links, badges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35508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700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#0F766E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 / pressed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2104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832104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Emerald 600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#059669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end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SAMPLED FROM THE MARK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1747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5720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Navy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#17476E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Wordmark ink, logo-only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8036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4E8AB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88036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 Blue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#4E8AB2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stroke + left egg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5CBB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30352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 Green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#5CBB61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 accent + right egg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2668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81838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772668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 Gray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2668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#818382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“Discount Finder” tagline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Neutrals &amp; semantic colors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color is functional, not decorative — amber is reserved for ratings only, never for status.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NEUTRALS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5720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#1F2937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text, headings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62707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42316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Ink soft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#6B7280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 text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38912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#E5E7EB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borders, dividers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35508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ground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#F3F4F6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background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321040" y="2331720"/>
            <a:ext cx="1783080" cy="765353"/>
          </a:xfrm>
          <a:prstGeom prst="roundRect">
            <a:avLst>
              <a:gd name="adj" fmla="val 7168"/>
            </a:avLst>
          </a:prstGeom>
          <a:solidFill>
            <a:srgbClr val="111827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8321040" y="3133649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ground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3343961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#111827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console base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5720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#16A34A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Approved, confirmations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8036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88036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#DC2626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Errors, destructive confirm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0352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30352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amber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 ratings only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26680" y="4343400"/>
            <a:ext cx="2194560" cy="765353"/>
          </a:xfrm>
          <a:prstGeom prst="roundRect">
            <a:avLst>
              <a:gd name="adj" fmla="val 7168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7726680" y="5145329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/ trending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26680" y="5355641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#EA580C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“Hot Deals” flame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store belongs to one of eight categories. Each gets a fixed tint pair — soft fill + saturated icon color — so a category reads instantly, before anyone reads the label.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786384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86384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Grocery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green-50 / 600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92808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2221992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2221992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47672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47672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red-50 / 600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328416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3657600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657600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B27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8328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Fashion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pink-50 / 600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64024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5093208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5093208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18888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18888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blue-50 / 600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99632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6528816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6528816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54496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orange-50 / 600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635240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7964424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AF5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7964424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90104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Beauty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90104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purple-50 / 600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070848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9400032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9400032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25712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goods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25712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amber-50 / 600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506456" y="2286000"/>
            <a:ext cx="1298448" cy="192024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Shape 41"/>
          <p:cNvSpPr/>
          <p:nvPr/>
        </p:nvSpPr>
        <p:spPr>
          <a:xfrm>
            <a:off x="10835640" y="25420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10835640" y="2542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56132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61320" y="35478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gray-100 / 600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typeface, worked hard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sets everything in Inter, from the hero greeting down to a timestamp. Hierarchy comes entirely from size and weight, never from switching faces.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2xl / 800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24px · extrabold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218541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back, Thabo!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" y="2770632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57200" y="28437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 / 700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 · bold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0" y="280720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Back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392424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57200" y="346557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 / 700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18px · bold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60320" y="34290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Deals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014216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57200" y="40873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/ 400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 · regular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40507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stores, cities, or categories…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636008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 / 400–700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14px · regular–bold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467258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have a customer account? Sign Up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5330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 / 800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12px · extrabold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529437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left · R249.00 · 24% OFF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879592"/>
            <a:ext cx="9784080" cy="9144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57200" y="595274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eyebrow
</a:t>
            </a:r>
            <a:r>
              <a:rPr lang="en-US" sz="8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uppercase, tracked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591616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PORTAL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 &amp; MARK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nest egg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bowl of two eggs, drawn as thin outlined strokes, with the % of a discount cut diagonally through the weave. “DEAL” sits in regular weight against a bold “NEST.”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234440"/>
            <a:ext cx="48920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0" descr="C:\Users\Phumlani\AppData\Local\Temp\claude\c--Users-Phumlani-IdeaProjects-DealNest-frontend\3e01eb5f-c972-43ee-a660-a60e87992941\scratchpad\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08760"/>
            <a:ext cx="3703320" cy="2194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343400"/>
            <a:ext cx="11292840" cy="475488"/>
          </a:xfrm>
          <a:prstGeom prst="roundRect">
            <a:avLst>
              <a:gd name="adj" fmla="val 11538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621792" y="43434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463040" y="4343400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the mark on white or the app's light neutral ground. This is the only ground it's been drawn for.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928616"/>
            <a:ext cx="11292840" cy="475488"/>
          </a:xfrm>
          <a:prstGeom prst="roundRect">
            <a:avLst>
              <a:gd name="adj" fmla="val 11538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621792" y="492861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463040" y="4928616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the full lockup no smaller than 56px tall — the smallest size actually shipping, in the app header.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513832"/>
            <a:ext cx="11292840" cy="475488"/>
          </a:xfrm>
          <a:prstGeom prst="roundRect">
            <a:avLst>
              <a:gd name="adj" fmla="val 11538"/>
            </a:avLst>
          </a:prstGeom>
          <a:solidFill>
            <a:srgbClr val="FDED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621792" y="551383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463040" y="5513832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Recolor the mark. Its blue/green duotone is fixed — it is never rendered in the product's teal.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6099048"/>
            <a:ext cx="11292840" cy="475488"/>
          </a:xfrm>
          <a:prstGeom prst="roundRect">
            <a:avLst>
              <a:gd name="adj" fmla="val 11538"/>
            </a:avLst>
          </a:prstGeom>
          <a:solidFill>
            <a:srgbClr val="FDEDE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621792" y="609904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463040" y="6099048"/>
            <a:ext cx="10149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on a dark or busy background. There is no reversed variant yet.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ICONOGRAPHY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lucide-react, at fixed sizes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icon library, drawn as a thin outline. Stroke weight marks navigation state; a small closed vocabulary is reused for the same idea everywhere it appears.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0" y="19659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9784080" cy="13716"/>
          </a:xfrm>
          <a:prstGeom prst="rect">
            <a:avLst/>
          </a:prstGeom>
          <a:solidFill>
            <a:srgbClr val="E3E7E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109728" cy="10972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58368" y="23774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 / trending deal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“Hot Deals” section header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18px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57200" y="2907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58368" y="277977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2779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7797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badge, inline with 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2779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11px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82112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09728" cy="109728"/>
          </a:xfrm>
          <a:prstGeom prst="ellipse">
            <a:avLst/>
          </a:prstGeom>
          <a:solidFill>
            <a:srgbClr val="8A97A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58368" y="318211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3182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remaining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182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“3d left” countdown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0" y="31821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11px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84448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457200" y="3712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58368" y="358444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34640" y="3584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584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cards, review summaries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78240" y="3584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12–20px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986784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658368" y="398678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Bookmark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39867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a deal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9867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card corner, fills when saved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778240" y="39867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389120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Shape 41"/>
          <p:cNvSpPr/>
          <p:nvPr/>
        </p:nvSpPr>
        <p:spPr>
          <a:xfrm>
            <a:off x="457200" y="4517136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658368" y="4389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83464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Favorite a store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4632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card corner, fills when saved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778240" y="4389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18–20px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791456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Shape 47"/>
          <p:cNvSpPr/>
          <p:nvPr/>
        </p:nvSpPr>
        <p:spPr>
          <a:xfrm>
            <a:off x="457200" y="4919472"/>
            <a:ext cx="109728" cy="109728"/>
          </a:xfrm>
          <a:prstGeom prst="ellipse">
            <a:avLst/>
          </a:prstGeom>
          <a:solidFill>
            <a:srgbClr val="17476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658368" y="479145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ShieldCheck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834640" y="4791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/ admin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47914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“Admin Portal” eyebrow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778240" y="47914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14px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193792"/>
            <a:ext cx="9784080" cy="7315"/>
          </a:xfrm>
          <a:prstGeom prst="rect">
            <a:avLst/>
          </a:prstGeom>
          <a:solidFill>
            <a:srgbClr val="EDF0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Shape 53"/>
          <p:cNvSpPr/>
          <p:nvPr/>
        </p:nvSpPr>
        <p:spPr>
          <a:xfrm>
            <a:off x="457200" y="5321808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6" name="Text 54"/>
          <p:cNvSpPr/>
          <p:nvPr/>
        </p:nvSpPr>
        <p:spPr>
          <a:xfrm>
            <a:off x="658368" y="51937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AlertTriangle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834640" y="5193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Destructive confirm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46320" y="51937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Confirm-dialog icon badge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778240" y="519379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20px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blocks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BUTTON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96596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210312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10896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 BUTTON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08960" y="2880360"/>
            <a:ext cx="196596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10896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4960" y="2103120"/>
            <a:ext cx="2331720" cy="4023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577840" y="2240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 CARD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77840" y="2606040"/>
            <a:ext cx="502920" cy="502920"/>
          </a:xfrm>
          <a:prstGeom prst="roundRect">
            <a:avLst>
              <a:gd name="adj" fmla="val 27273"/>
            </a:avLst>
          </a:prstGeom>
          <a:solidFill>
            <a:srgbClr val="F0FDF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5778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65176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720840" y="26517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32461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Weekend Grocery Bundle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36118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 Corner Market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77840" y="3977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R189.00  </a:t>
            </a:r>
            <a:r>
              <a:rPr lang="en-US" sz="900" strike="sngStrike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R249.00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4572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left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09560" y="210312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8092440" y="2240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PILLS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92440" y="274320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E6F6E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8092440" y="27432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281160" y="274320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0F2F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9281160" y="27432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469880" y="274320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FBE8E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10469880" y="274320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909560" y="35661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8092440" y="36758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NAVIGATION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93608" y="40416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8001000" y="42428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208008" y="40416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8A9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8915400" y="42428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122408" y="40416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8A9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9829800" y="42428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1036808" y="40416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8A9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10744200" y="42428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909560" y="480060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8092440" y="4910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DISTRIBUTION — ORDINAL RAMP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092440" y="5193792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321040" y="5221224"/>
            <a:ext cx="2743200" cy="82296"/>
          </a:xfrm>
          <a:prstGeom prst="roundRect">
            <a:avLst>
              <a:gd name="adj" fmla="val 55556"/>
            </a:avLst>
          </a:prstGeom>
          <a:solidFill>
            <a:srgbClr val="EFEF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7" name="Shape 45"/>
          <p:cNvSpPr/>
          <p:nvPr/>
        </p:nvSpPr>
        <p:spPr>
          <a:xfrm>
            <a:off x="8321040" y="5221224"/>
            <a:ext cx="2139696" cy="82296"/>
          </a:xfrm>
          <a:prstGeom prst="roundRect">
            <a:avLst>
              <a:gd name="adj" fmla="val 55556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8092440" y="5367528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321040" y="5394960"/>
            <a:ext cx="2743200" cy="82296"/>
          </a:xfrm>
          <a:prstGeom prst="roundRect">
            <a:avLst>
              <a:gd name="adj" fmla="val 55556"/>
            </a:avLst>
          </a:prstGeom>
          <a:solidFill>
            <a:srgbClr val="EFEF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Shape 48"/>
          <p:cNvSpPr/>
          <p:nvPr/>
        </p:nvSpPr>
        <p:spPr>
          <a:xfrm>
            <a:off x="8321040" y="5394960"/>
            <a:ext cx="384048" cy="82296"/>
          </a:xfrm>
          <a:prstGeom prst="roundRect">
            <a:avLst>
              <a:gd name="adj" fmla="val 5555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8092440" y="5541264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321040" y="5568696"/>
            <a:ext cx="2743200" cy="82296"/>
          </a:xfrm>
          <a:prstGeom prst="roundRect">
            <a:avLst>
              <a:gd name="adj" fmla="val 55556"/>
            </a:avLst>
          </a:prstGeom>
          <a:solidFill>
            <a:srgbClr val="EFEF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8321040" y="5568696"/>
            <a:ext cx="137160" cy="82296"/>
          </a:xfrm>
          <a:prstGeom prst="roundRect">
            <a:avLst>
              <a:gd name="adj" fmla="val 55556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8092440" y="5715000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321040" y="5742432"/>
            <a:ext cx="2743200" cy="82296"/>
          </a:xfrm>
          <a:prstGeom prst="roundRect">
            <a:avLst>
              <a:gd name="adj" fmla="val 55556"/>
            </a:avLst>
          </a:prstGeom>
          <a:solidFill>
            <a:srgbClr val="EFEF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6" name="Shape 54"/>
          <p:cNvSpPr/>
          <p:nvPr/>
        </p:nvSpPr>
        <p:spPr>
          <a:xfrm>
            <a:off x="8321040" y="5742432"/>
            <a:ext cx="54864" cy="82296"/>
          </a:xfrm>
          <a:prstGeom prst="roundRect">
            <a:avLst>
              <a:gd name="adj" fmla="val 83333"/>
            </a:avLst>
          </a:prstGeom>
          <a:solidFill>
            <a:srgbClr val="FCD3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Text 55"/>
          <p:cNvSpPr/>
          <p:nvPr/>
        </p:nvSpPr>
        <p:spPr>
          <a:xfrm>
            <a:off x="8092440" y="5888736"/>
            <a:ext cx="1828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321040" y="5916168"/>
            <a:ext cx="2743200" cy="82296"/>
          </a:xfrm>
          <a:prstGeom prst="roundRect">
            <a:avLst>
              <a:gd name="adj" fmla="val 55556"/>
            </a:avLst>
          </a:prstGeom>
          <a:solidFill>
            <a:srgbClr val="EFEFE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Shape 57"/>
          <p:cNvSpPr/>
          <p:nvPr/>
        </p:nvSpPr>
        <p:spPr>
          <a:xfrm>
            <a:off x="8321040" y="5916168"/>
            <a:ext cx="54864" cy="82296"/>
          </a:xfrm>
          <a:prstGeom prst="roundRect">
            <a:avLst>
              <a:gd name="adj" fmla="val 83333"/>
            </a:avLst>
          </a:prstGeom>
          <a:solidFill>
            <a:srgbClr val="FDE68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0" name="Shape 58"/>
          <p:cNvSpPr/>
          <p:nvPr/>
        </p:nvSpPr>
        <p:spPr>
          <a:xfrm>
            <a:off x="457200" y="4160520"/>
            <a:ext cx="4800600" cy="1965960"/>
          </a:xfrm>
          <a:prstGeom prst="roundRect">
            <a:avLst>
              <a:gd name="adj" fmla="val 3721"/>
            </a:avLst>
          </a:prstGeom>
          <a:solidFill>
            <a:srgbClr val="E7EAE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Shape 59"/>
          <p:cNvSpPr/>
          <p:nvPr/>
        </p:nvSpPr>
        <p:spPr>
          <a:xfrm>
            <a:off x="1417320" y="4434840"/>
            <a:ext cx="2880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Shape 60"/>
          <p:cNvSpPr/>
          <p:nvPr/>
        </p:nvSpPr>
        <p:spPr>
          <a:xfrm>
            <a:off x="1600200" y="4590288"/>
            <a:ext cx="365760" cy="365760"/>
          </a:xfrm>
          <a:prstGeom prst="ellipse">
            <a:avLst/>
          </a:prstGeom>
          <a:solidFill>
            <a:srgbClr val="FBE8E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160020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084832" y="45902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 this store?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084832" y="482803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can't be undone.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600200" y="5230368"/>
            <a:ext cx="12801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1600200" y="52303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971800" y="5230368"/>
            <a:ext cx="1280160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Text 67"/>
          <p:cNvSpPr/>
          <p:nvPr/>
        </p:nvSpPr>
        <p:spPr>
          <a:xfrm>
            <a:off x="2971800" y="52303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&amp; VOICE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DealNest talks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 but plain, second person, never cute(keep things professional). Prices are always Rand, to two decimals. Real copy from the app, organized by the moment it appears 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HOME, ON ARRIVAL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4780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back, {firstName}!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7063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the best deals near you today.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04495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HomePage.jsx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794760" y="21488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977640" y="22677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SIGN-IN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977640" y="24780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Back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277063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have a customer account? Sign 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77640" y="304495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LoginPage.jsx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132320" y="214884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315200" y="22677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FORM ERROR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315200" y="24780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Incorrect email or password.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277063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role="alert", aria-live="polite"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315200" y="304495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LoginPage.jsx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40080" y="359359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DESTRUCTIVE CONFIRM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" y="38039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you sure?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0965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title when no message is given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437083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ConfirmModal.jsx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794760" y="34747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3977640" y="359359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CTA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77640" y="38039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all 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77640" y="40965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77640" y="437083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HomePage.jsx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132320" y="34747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315200" y="359359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0" y="38039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R189.00   R249.00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0" y="409651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“R” + 2 decimals, never “ZAR”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0" y="4370832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tabular-nums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SPACING &amp; ELEVATION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Shape, depth, rhythm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Corners get rounder as a surface gets more important. Shadows are used sparingly and often warm slightly toward teal.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CORNER RADIUS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91440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82880" y="32735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 / 8px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rare — small chips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2286000"/>
            <a:ext cx="9144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148840" y="32735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 / 12px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4884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inputs, buttons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0" y="228600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114800" y="32735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2xl / 16px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cards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55080" y="22860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6080760" y="32735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3xl / 24px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hero, deal &amp; auth cards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21040" y="2286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8046720" y="32735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34930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pills, avatars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RHYTHM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padding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4535424"/>
            <a:ext cx="54864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557784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padding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0" y="4901184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577840" y="4846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16px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5212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gap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0" y="5266944"/>
            <a:ext cx="32004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5577840" y="5212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12–16px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height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0" y="5632704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5577840" y="5577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64px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5943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 nav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5998464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5577840" y="5943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64px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309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270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column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0" y="6364224"/>
            <a:ext cx="274320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5577840" y="6309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672px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 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521208"/>
            <a:ext cx="201168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47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 &amp; ACCESSIBILITY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Small, respectful movement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 confirms an interaction, never decorates one. Every item below is already enforced in code, not aspirational.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85800" y="22951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lift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6243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Cards rise 2px and their shadow steps from sm to lg on hover — the only motion on a static list.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94960" y="214884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5623560" y="22951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Reduced motion, honored globally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23560" y="26243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rule in index.css disables every skeleton pulse under prefers-reduced-motion: reduce.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85800" y="37124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is always visible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04164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and controls get a 2px teal outline on keyboard focus — never suppressed.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356616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623560" y="37124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44px minimum touch target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404164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Icon-only buttons (log out, save, bookmark) are sized to at least 44×44px.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85800" y="51297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 announce themselves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4589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errors carry role="alert" and aria-live="polite".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94960" y="4983480"/>
            <a:ext cx="4663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E7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623560" y="51297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Modals trap focus, close on Escape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545896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270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role="alertdialog", focus moves to Cancel on open, Escape closes.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7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DealNest Brand &amp; Design Guide  ·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humlani\AppData\Local\Temp\claude\c--Users-Phumlani-IdeaProjects-DealNest-frontend\3e01eb5f-c972-43ee-a660-a60e87992941\scratchpad\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920240"/>
            <a:ext cx="2926080" cy="1508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7048" y="3749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THE END</a:t>
            </a:r>
            <a:r>
              <a:rPr lang="en-US" sz="12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1468</Words>
  <Application>Microsoft Office PowerPoint</Application>
  <PresentationFormat>Widescreen</PresentationFormat>
  <Paragraphs>314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Consolas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Phumlani Mdlalo</cp:lastModifiedBy>
  <cp:revision>2</cp:revision>
  <dcterms:created xsi:type="dcterms:W3CDTF">2026-08-06T07:25:12Z</dcterms:created>
  <dcterms:modified xsi:type="dcterms:W3CDTF">2026-08-06T07:41:11Z</dcterms:modified>
</cp:coreProperties>
</file>